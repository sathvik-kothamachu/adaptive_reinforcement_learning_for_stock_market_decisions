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82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651760"/>
            <a:ext cx="59436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95057" y="627145"/>
            <a:ext cx="5739753" cy="1797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REINFORCEMENT LEARNING FOR STOCK MARKET DESICIONS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8433" y="281559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Charan Kumar  |  K. Sathvik  |  G. Manish Reddy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(AI &amp; ML) — Dayananda Sagar University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067" y="2815590"/>
            <a:ext cx="5314587" cy="1645920"/>
          </a:xfrm>
          <a:prstGeom prst="ellipse">
            <a:avLst/>
          </a:prstGeom>
          <a:solidFill>
            <a:srgbClr val="F0A500">
              <a:alpha val="30000"/>
            </a:srgbClr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AutoShape 4" descr="Bull stock exchange Images - Free Download on Freepik">
            <a:extLst>
              <a:ext uri="{FF2B5EF4-FFF2-40B4-BE49-F238E27FC236}">
                <a16:creationId xmlns:a16="http://schemas.microsoft.com/office/drawing/2014/main" id="{AF7C2D3D-8B48-3237-84A8-2817D06C3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 descr="Bull stock exchange Images - Free Download on Freepik">
            <a:extLst>
              <a:ext uri="{FF2B5EF4-FFF2-40B4-BE49-F238E27FC236}">
                <a16:creationId xmlns:a16="http://schemas.microsoft.com/office/drawing/2014/main" id="{BDDC163D-EE90-4188-13E4-BD62075D4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47" y="1"/>
            <a:ext cx="2672486" cy="508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Motivated Us?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69164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Social Media Traps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are misled by influencers on YouTube, Instagram and Telegram promoting stocks with unrealistic price targets.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73152" cy="169164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19472" y="1069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Pump &amp; Dump Schemes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4630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stocks are heavily promoted, attracting investors before sudden sell-offs cause massive crashes and losses.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8912" y="29900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Incomplete Platforms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3832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focus only on technical charts and don't combine sentiment, news, or market-regime context.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73152" cy="169164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19472" y="29900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Personal Experience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3832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exposure to market traps motivated building a multi-factor cross-verification system for retail investors.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stock market (NSE Nifty 50) is one of the fastest-growing equity markets in Asia. With increasing retail participation and social-media-driven decisions, there is an urgent need for intelligent, transparent advisory systems. Most existing platforms provide only technical indicators and fail to combine sentiment analysis or market-regime conditions.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42316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999232"/>
            <a:ext cx="18288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indicators → composite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Strength Score (0–100)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1396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743200" cy="2194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2487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703320" y="2999232"/>
            <a:ext cx="18288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37560" y="30906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Finnhub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real-time headlines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21396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2743200" cy="21945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75120" y="2999232"/>
            <a:ext cx="18288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0906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on Nifty 50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log-returns (Bull / Bear / Sideways)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1396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60520" y="4663440"/>
            <a:ext cx="822960" cy="228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PPO Agent  →  BUY / HOLD / SELL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66928" cy="56692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9692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 Vulnerability — 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96926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based on social media tips and paid influencers rather than proper market analysis.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859536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566928" cy="56692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922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Blindness —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17520" y="179222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ignore financial news entirely — dangerous when company announcements drive sharp moves.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859536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566928" cy="56692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151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Unawareness —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261518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retail tool for India integrates a formal market-regime classifier. Even strong stocks fall in bear markets.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859536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566928" cy="56692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17520" y="343814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087368"/>
            <a:ext cx="859536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449909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— 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17520" y="346167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strength, sentiment, regime analysis and news explanations are never combined in one system.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 system — not a direct financial advisor — helping investors validate stock suggestions from social media before committing capital.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Technical Score (0–100)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0116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indicators normalised to a composite strength score.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10128" y="157276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Sentiment Score (0–100)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10128" y="20116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NLP on live Finnhub + NewsAPI headlines.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36208" y="157276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Market Regime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20116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classifies Nifty 50 as Bullish / Sideways / Bearish.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3101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PPO RL Agent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74904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7 years of NSE data; 24-dim state vector.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10128" y="33101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🔎AI Explainability Assistant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10128" y="374904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explains why a stock is marked BUY, HOLD, or SELL.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743200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36208" y="33101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BUY / HOLD / SELL Signal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36208" y="374904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 from PPO policy with full justification.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4" name="Image 0" descr="/home/claude/img_p16_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68680"/>
            <a:ext cx="7680960" cy="4160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D891B9-A6A5-DA6B-049F-70C17EA7D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23" y="966818"/>
            <a:ext cx="7500754" cy="3995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463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7223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/ Finnhub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NewsAPI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01368" y="1901952"/>
            <a:ext cx="192024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463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68880" y="7223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10789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BB,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ADX, OBV…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3008" y="1901952"/>
            <a:ext cx="192024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1463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60520" y="7223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10789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84648" y="1901952"/>
            <a:ext cx="192024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94960" y="1005840"/>
            <a:ext cx="1463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52160" y="7223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10789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Regime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Gaussian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on Nifty 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76288" y="1901952"/>
            <a:ext cx="192024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086600" y="1005840"/>
            <a:ext cx="1463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543800" y="72237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0" y="10789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3840480" cy="14630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(Stable-Baselines3)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Jan 2016 – Dec 2023  (500k timesteps)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2024  |  Test: Jan 2025 – Apr 2026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 Continuous Box(−1, +1)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017520"/>
            <a:ext cx="3931920" cy="1463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37760" y="3090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 &amp; Output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937760" y="3566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BUY  (action &gt; 0.3)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3867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HOLD  (−0.3 to 0.3)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SELL  (action &lt; −0.3)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24528" y="3749040"/>
            <a:ext cx="603504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6EA45A3A-40D4-D1AD-D2F9-E0075E0EC7CE}"/>
              </a:ext>
            </a:extLst>
          </p:cNvPr>
          <p:cNvSpPr/>
          <p:nvPr/>
        </p:nvSpPr>
        <p:spPr>
          <a:xfrm>
            <a:off x="8570898" y="1950332"/>
            <a:ext cx="414683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C7410054-50E7-E5F6-ED1A-91422EF0737C}"/>
              </a:ext>
            </a:extLst>
          </p:cNvPr>
          <p:cNvSpPr/>
          <p:nvPr/>
        </p:nvSpPr>
        <p:spPr>
          <a:xfrm>
            <a:off x="8985581" y="1950332"/>
            <a:ext cx="0" cy="880231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8D8A7FDF-0F35-9B79-2418-C1985F58C1FF}"/>
              </a:ext>
            </a:extLst>
          </p:cNvPr>
          <p:cNvSpPr/>
          <p:nvPr/>
        </p:nvSpPr>
        <p:spPr>
          <a:xfrm flipV="1">
            <a:off x="2339001" y="2827884"/>
            <a:ext cx="6646580" cy="9143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F86CC58E-CBB8-CD59-B950-B95547EB67BB}"/>
              </a:ext>
            </a:extLst>
          </p:cNvPr>
          <p:cNvSpPr/>
          <p:nvPr/>
        </p:nvSpPr>
        <p:spPr>
          <a:xfrm>
            <a:off x="2339001" y="2837027"/>
            <a:ext cx="0" cy="128013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29968" cy="47548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yfinance (Yahoo Finance)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Finnhub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NewsAPI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74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Nifty 50 (^NSEI)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86868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41448" y="868680"/>
            <a:ext cx="2029968" cy="47548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868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RL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32888" y="1417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Stable-Baselines3 (PPO)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hmmlearn (Gaussian HMM)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2888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scikit-learn (scaling)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2888" y="3474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FINBERT Sentiment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54296" y="86868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54296" y="868680"/>
            <a:ext cx="2029968" cy="4754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00016" y="868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45736" y="1417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ta (Python TA library)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RSI, MACD, BB, ADX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OBV, Stochastic, ROC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45736" y="3474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ATR, EMA, SMA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67144" y="86868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867144" y="868680"/>
            <a:ext cx="2029968" cy="47548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12864" y="868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58584" y="14173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Python 3.10+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58584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Pandas / NumPy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8584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Matplotlib / Seaborn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58584" y="3474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CSV caching layer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" y="892233"/>
            <a:ext cx="1737360" cy="1325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-73152" y="98090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-27432" y="15544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KOTAKBANK 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92808" y="891540"/>
            <a:ext cx="1709928" cy="1325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47088" y="9144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47088" y="1489641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(KOTAKBANK test period)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1" y="900684"/>
            <a:ext cx="1545336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468111" y="88599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48/100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58967" y="1489641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(Bullish macro context)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70064" y="916340"/>
            <a:ext cx="1709928" cy="1325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69480" y="8915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50/100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79208" y="1512501"/>
            <a:ext cx="170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(KOTAKBANK – moderate positive)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PPO Signals — All 10 Nifty 50 Stocks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654189"/>
              </p:ext>
            </p:extLst>
          </p:nvPr>
        </p:nvGraphicFramePr>
        <p:xfrm>
          <a:off x="274320" y="2724912"/>
          <a:ext cx="8595360" cy="2304288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Cum.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TCS.NS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Consultancy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RELIANCE.NS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Industries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HDFCBANK.NS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KOTAKBANK.NS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Mahindra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ITC.NS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ITC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BUY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8">
            <a:extLst>
              <a:ext uri="{FF2B5EF4-FFF2-40B4-BE49-F238E27FC236}">
                <a16:creationId xmlns:a16="http://schemas.microsoft.com/office/drawing/2014/main" id="{ECE53E9C-62A2-2307-4C73-32ACD292BEFD}"/>
              </a:ext>
            </a:extLst>
          </p:cNvPr>
          <p:cNvSpPr/>
          <p:nvPr/>
        </p:nvSpPr>
        <p:spPr>
          <a:xfrm>
            <a:off x="3858769" y="908858"/>
            <a:ext cx="1545336" cy="13258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64/100</a:t>
            </a:r>
            <a:endParaRPr lang="en-US" sz="9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(KOTAKBANK – moderate positive)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600" dirty="0"/>
          </a:p>
        </p:txBody>
      </p:sp>
      <p:pic>
        <p:nvPicPr>
          <p:cNvPr id="4" name="Image 0" descr="/home/claude/img_p21_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303520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868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Distribution (2016–2026)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760720" y="1325880"/>
            <a:ext cx="274320" cy="47548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26480" y="1344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 28.6%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581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structural growth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2075688"/>
            <a:ext cx="274320" cy="475488"/>
          </a:xfrm>
          <a:prstGeom prst="rect">
            <a:avLst/>
          </a:prstGeom>
          <a:solidFill>
            <a:srgbClr val="E6A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126480" y="2093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 68.3%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2331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phases dominate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2825496"/>
            <a:ext cx="2743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26480" y="2843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 3.0%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30815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 (Mar–May 2020)</a:t>
            </a:r>
            <a:endParaRPr lang="en-US" sz="1050" dirty="0"/>
          </a:p>
        </p:txBody>
      </p:sp>
      <p:pic>
        <p:nvPicPr>
          <p:cNvPr id="15" name="Image 1" descr="/home/claude/img_p30_i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66160"/>
            <a:ext cx="5303520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60720" y="356616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Score 91.5 / 100 reinforces BUY signals for technically strong stocks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correctly identified COVID-19 crash as Bearish regime in March 2020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E0C104-82D9-0AFD-A80D-F7F4B188C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609600"/>
            <a:ext cx="9231282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62456" y="64008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62456" y="63093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0698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 Protection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Cross-verify social-media stock tips before committing capital.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18688" y="96012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06824" y="64008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06824" y="63093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28416" y="10698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Cross-Verification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50876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buy/sell suggestions with multi-dimensional evidence.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96012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63056" y="96012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51192" y="64008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51192" y="63093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0698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50876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macro conditions (Bull / Sideways / Bear) for portfolio positioning.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62456" y="265176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62456" y="26426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" y="30815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Finance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352044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Per-indicator breakdowns foster transparency and trust in AI decisions.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18688" y="297180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18688" y="297180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06824" y="265176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06824" y="26426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28416" y="30815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Screening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28416" y="352044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50 Nifty stocks for institutional-grade sector rotation.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297180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163056" y="2971800"/>
            <a:ext cx="2724912" cy="5486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251192" y="265176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251192" y="26426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72784" y="30815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Paper Trading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352044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Kite Connect API for real-time signal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Forth Comings —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1089800" y="2789230"/>
            <a:ext cx="6980474" cy="45410"/>
          </a:xfrm>
          <a:prstGeom prst="line">
            <a:avLst/>
          </a:prstGeom>
          <a:noFill/>
          <a:ln w="317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578608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6859" y="190832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Nifty 50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3880" y="14813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78992" y="2487168"/>
            <a:ext cx="0" cy="0"/>
          </a:xfrm>
          <a:prstGeom prst="line">
            <a:avLst/>
          </a:prstGeom>
          <a:noFill/>
          <a:ln w="1524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980944" y="2615184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574037" y="3322873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74037" y="3739139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0" y="2555903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91256" y="14630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58768" y="2487168"/>
            <a:ext cx="0" cy="0"/>
          </a:xfrm>
          <a:prstGeom prst="line">
            <a:avLst/>
          </a:prstGeom>
          <a:noFill/>
          <a:ln w="1524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08976" y="2571750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8052" y="181447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Module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12664" y="3739139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38544" y="2487168"/>
            <a:ext cx="0" cy="0"/>
          </a:xfrm>
          <a:prstGeom prst="line">
            <a:avLst/>
          </a:prstGeom>
          <a:noFill/>
          <a:ln w="1524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02068" y="313715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AMORS FRAMEWORK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60920" y="3739139"/>
            <a:ext cx="1325880" cy="1216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A7E8C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200400" cy="3200400"/>
          </a:xfrm>
          <a:prstGeom prst="ellipse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kern="0" spc="6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BEGINS.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AMORS — Reinforcement Learning with Regime Detection for Stock Signal Generation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University, Dept. of CSE (AI &amp; ML) | 2025–2026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941</Words>
  <Application>Microsoft Office PowerPoint</Application>
  <PresentationFormat>On-screen Show (16:9)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AMORS: Reinforcement Learning with Regime Detection for Stock Signal Generation</dc:title>
  <dc:subject>PptxGenJS Presentation</dc:subject>
  <dc:creator>PptxGenJS</dc:creator>
  <cp:lastModifiedBy>Manish Reddy</cp:lastModifiedBy>
  <cp:revision>7</cp:revision>
  <dcterms:created xsi:type="dcterms:W3CDTF">2026-05-11T16:52:22Z</dcterms:created>
  <dcterms:modified xsi:type="dcterms:W3CDTF">2026-06-15T09:23:09Z</dcterms:modified>
</cp:coreProperties>
</file>